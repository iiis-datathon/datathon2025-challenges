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Urbanis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F4AA6-BF03-497D-AD1C-443775228195}" v="1" dt="2025-11-16T14:17:51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ooj Sathyan" userId="50fcb79605b8bdfa" providerId="LiveId" clId="{99D64390-1873-474E-BD25-CF45203CA755}"/>
    <pc:docChg chg="modSld">
      <pc:chgData name="Anooj Sathyan" userId="50fcb79605b8bdfa" providerId="LiveId" clId="{99D64390-1873-474E-BD25-CF45203CA755}" dt="2025-11-16T14:17:55.284" v="4" actId="1076"/>
      <pc:docMkLst>
        <pc:docMk/>
      </pc:docMkLst>
      <pc:sldChg chg="addSp modSp mod">
        <pc:chgData name="Anooj Sathyan" userId="50fcb79605b8bdfa" providerId="LiveId" clId="{99D64390-1873-474E-BD25-CF45203CA755}" dt="2025-11-16T14:17:55.284" v="4" actId="1076"/>
        <pc:sldMkLst>
          <pc:docMk/>
          <pc:sldMk cId="0" sldId="258"/>
        </pc:sldMkLst>
        <pc:spChg chg="mod">
          <ac:chgData name="Anooj Sathyan" userId="50fcb79605b8bdfa" providerId="LiveId" clId="{99D64390-1873-474E-BD25-CF45203CA755}" dt="2025-11-16T14:17:33.120" v="1" actId="1076"/>
          <ac:spMkLst>
            <pc:docMk/>
            <pc:sldMk cId="0" sldId="258"/>
            <ac:spMk id="117" creationId="{00000000-0000-0000-0000-000000000000}"/>
          </ac:spMkLst>
        </pc:spChg>
        <pc:spChg chg="mod">
          <ac:chgData name="Anooj Sathyan" userId="50fcb79605b8bdfa" providerId="LiveId" clId="{99D64390-1873-474E-BD25-CF45203CA755}" dt="2025-11-16T14:17:36.583" v="2" actId="1076"/>
          <ac:spMkLst>
            <pc:docMk/>
            <pc:sldMk cId="0" sldId="258"/>
            <ac:spMk id="119" creationId="{00000000-0000-0000-0000-000000000000}"/>
          </ac:spMkLst>
        </pc:spChg>
        <pc:picChg chg="add mod">
          <ac:chgData name="Anooj Sathyan" userId="50fcb79605b8bdfa" providerId="LiveId" clId="{99D64390-1873-474E-BD25-CF45203CA755}" dt="2025-11-16T14:17:55.284" v="4" actId="1076"/>
          <ac:picMkLst>
            <pc:docMk/>
            <pc:sldMk cId="0" sldId="258"/>
            <ac:picMk id="2" creationId="{00CC3A6E-2E24-EA39-501F-91F9EA7AF684}"/>
          </ac:picMkLst>
        </pc:picChg>
      </pc:sldChg>
      <pc:sldChg chg="modSp mod">
        <pc:chgData name="Anooj Sathyan" userId="50fcb79605b8bdfa" providerId="LiveId" clId="{99D64390-1873-474E-BD25-CF45203CA755}" dt="2025-11-16T13:17:12.591" v="0" actId="404"/>
        <pc:sldMkLst>
          <pc:docMk/>
          <pc:sldMk cId="0" sldId="262"/>
        </pc:sldMkLst>
        <pc:spChg chg="mod">
          <ac:chgData name="Anooj Sathyan" userId="50fcb79605b8bdfa" providerId="LiveId" clId="{99D64390-1873-474E-BD25-CF45203CA755}" dt="2025-11-16T13:17:12.591" v="0" actId="404"/>
          <ac:spMkLst>
            <pc:docMk/>
            <pc:sldMk cId="0" sldId="262"/>
            <ac:spMk id="1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0e0da6b3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90e0da6b3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0e0da6b3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90e0da6b3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0e0da6b3f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90e0da6b3f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75660" y="2143125"/>
            <a:ext cx="5440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SAILES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505200" y="3248025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An Interpretable AI Market Consultant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505200" y="4181475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Schneider Electric | Hackathon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6412"/>
            <a:ext cx="5286375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76412"/>
            <a:ext cx="5286375" cy="41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16693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The Context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70033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Schneider Electric has millions of data points from sales opportunities, including Customer History, Product Mix, Competition, and Timing.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662362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can predict outcomes, but we need to know *why*.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216693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The "Black Box" Challenge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2700337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Traditional AI models don't explain their reasoning, which creates problems for: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00850" y="33861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15150" y="3386137"/>
            <a:ext cx="4314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Trust: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Hard to trust predictions you don't understand.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800850" y="41005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915150" y="4100512"/>
            <a:ext cx="4314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Can't take corrective action if you don't know what matters.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00850" y="48148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15150" y="4814887"/>
            <a:ext cx="4314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Learning: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Can't improve processes without understanding success patterns.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The Business Problem: Why?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45965"/>
            <a:ext cx="3492549" cy="3318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245965"/>
            <a:ext cx="3492549" cy="3318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245965"/>
            <a:ext cx="3492549" cy="33184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57250" y="3169890"/>
            <a:ext cx="291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1. What will happen?</a:t>
            </a:r>
            <a:endParaRPr>
              <a:solidFill>
                <a:srgbClr val="34D39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3884265"/>
            <a:ext cx="29211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Predict the outcome of a sales opportunity (Win/Loss) based on all available data.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635549" y="3169890"/>
            <a:ext cx="3067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2. Why will it happen?</a:t>
            </a:r>
            <a:endParaRPr>
              <a:solidFill>
                <a:srgbClr val="34D39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635450" y="3905175"/>
            <a:ext cx="29211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 dirty="0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Explain the *reasons* behind the prediction, building trust and enabling learning.</a:t>
            </a:r>
            <a:endParaRPr dirty="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413849" y="3169890"/>
            <a:ext cx="3067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3. What can we change?</a:t>
            </a:r>
            <a:endParaRPr>
              <a:solidFill>
                <a:srgbClr val="34D39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413650" y="3884265"/>
            <a:ext cx="29211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 dirty="0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Provide specific, actionable analysis on what could flip a predicted loss into a win.</a:t>
            </a:r>
            <a:endParaRPr dirty="0"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5507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13849" y="25507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Our Goal: Answering The Three Key Questions</a:t>
            </a:r>
            <a:endParaRPr>
              <a:solidFill>
                <a:srgbClr val="34D39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" name="Google Shape;120;p15" descr="image.png">
            <a:extLst>
              <a:ext uri="{FF2B5EF4-FFF2-40B4-BE49-F238E27FC236}">
                <a16:creationId xmlns:a16="http://schemas.microsoft.com/office/drawing/2014/main" id="{00CC3A6E-2E24-EA39-501F-91F9EA7AF68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35450" y="255076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17145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What factors matter most across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opportunities?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4860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2381250" y="2438400"/>
            <a:ext cx="66389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Lato"/>
                <a:ea typeface="Lato"/>
                <a:cs typeface="Lato"/>
                <a:sym typeface="Lato"/>
              </a:rPr>
              <a:t>Customer Hit Rate: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Historical success rate with the customer is the top predictor.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0765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2381250" y="3028950"/>
            <a:ext cx="704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Lato"/>
                <a:ea typeface="Lato"/>
                <a:cs typeface="Lato"/>
                <a:sym typeface="Lato"/>
              </a:rPr>
              <a:t>Interactions &amp; Contracts: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level of engagement and existing business relationships.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6671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2381250" y="3619500"/>
            <a:ext cx="6981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Lato"/>
                <a:ea typeface="Lato"/>
                <a:cs typeface="Lato"/>
                <a:sym typeface="Lato"/>
              </a:rPr>
              <a:t>Historical Sales: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Whether we have successfully sold a specific product to them before.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2576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2381250" y="42100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Lato"/>
                <a:ea typeface="Lato"/>
                <a:cs typeface="Lato"/>
                <a:sym typeface="Lato"/>
              </a:rPr>
              <a:t>Opportunity Novelty: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Long-standing, stalled opportunities are significantly less likely to be successful.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Layer 1: Global Insights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1647825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Why did the model make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specific prediction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227647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Technique: Decision Path Analysis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8289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model finds the "tie-breakers" among its internal sub-models to reveal which trends were most important for a single prediction.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406717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Example Explanation: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4619625"/>
            <a:ext cx="5286375" cy="1238250"/>
          </a:xfrm>
          <a:prstGeom prst="roundRect">
            <a:avLst>
              <a:gd name="adj" fmla="val 6153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4810125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"This opportunity has a high probability of success because the customer has a 95% historical success rate and we've had 12 previous positive interactions with them."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4619625"/>
            <a:ext cx="38100" cy="12382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478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Layer 2: Local Explanations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1600200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What would need to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change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flip the prediction?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222885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Technique: Counterfactual Generation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27813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Given a "Loss" prediction, the VAE model finds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most similar plausible opportunity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that would have resulted in a "Win."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35433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provides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minimal amount of feature changes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possible to achieve this, making the advice actionable.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44958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Business Impact: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504825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empowers sales teams by showing them the specific, high-leverage activities they can perform to help overturn a potential loss and prioritize their efforts.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002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Layer 3: What-If Analysis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295200" y="229025"/>
            <a:ext cx="116016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MVP</a:t>
            </a:r>
            <a:endParaRPr sz="3600" b="1" dirty="0">
              <a:solidFill>
                <a:srgbClr val="34D399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SAILES (Supervised Artificial Intelligence Learning Explainable Systems)</a:t>
            </a:r>
            <a:endParaRPr sz="2400" b="1" dirty="0">
              <a:solidFill>
                <a:srgbClr val="34D39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71" name="Google Shape;171;p19" title="WhatsApp Image 2025-11-16 at 11.59.22.jpeg"/>
          <p:cNvPicPr preferRelativeResize="0"/>
          <p:nvPr/>
        </p:nvPicPr>
        <p:blipFill rotWithShape="1">
          <a:blip r:embed="rId3">
            <a:alphaModFix/>
          </a:blip>
          <a:srcRect t="1960"/>
          <a:stretch/>
        </p:blipFill>
        <p:spPr>
          <a:xfrm>
            <a:off x="1409925" y="1437100"/>
            <a:ext cx="9372150" cy="507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E22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 title="Gemini_Generated_Image_8t3ssz8t3ssz8t3s.png"/>
          <p:cNvPicPr preferRelativeResize="0"/>
          <p:nvPr/>
        </p:nvPicPr>
        <p:blipFill rotWithShape="1">
          <a:blip r:embed="rId3">
            <a:alphaModFix/>
          </a:blip>
          <a:srcRect l="31010" t="21361" r="30231" b="16088"/>
          <a:stretch/>
        </p:blipFill>
        <p:spPr>
          <a:xfrm>
            <a:off x="3920000" y="1273600"/>
            <a:ext cx="4444800" cy="40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295200" y="251762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pic>
        <p:nvPicPr>
          <p:cNvPr id="183" name="Google Shape;183;p21" title="WhatsApp Image 2025-11-16 at 10.04.2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4800" y="1175150"/>
            <a:ext cx="6978976" cy="52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Widescreen</PresentationFormat>
  <Paragraphs>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Lato</vt:lpstr>
      <vt:lpstr>Urbanist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Anooj Sathyan</cp:lastModifiedBy>
  <cp:revision>1</cp:revision>
  <dcterms:modified xsi:type="dcterms:W3CDTF">2025-11-16T14:18:01Z</dcterms:modified>
</cp:coreProperties>
</file>